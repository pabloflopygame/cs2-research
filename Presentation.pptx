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0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3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4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5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7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9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0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1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CSGO Market Study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Pablo Santana Acosta, Óscar González Pérez, Luis Wandelmer Peña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2025-12-22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Indice</a:t>
            </a:r>
          </a:p>
          <a:p>
            <a:pPr lvl="0"/>
            <a:r>
              <a:rPr/>
              <a:t>Tratado de datos</a:t>
            </a:r>
          </a:p>
          <a:p>
            <a:pPr lvl="0"/>
            <a:r>
              <a:rPr/>
              <a:t>Estadísticas del mercado</a:t>
            </a:r>
          </a:p>
          <a:p>
            <a:pPr lvl="0"/>
            <a:r>
              <a:rPr/>
              <a:t>Probabilidad de las cajas</a:t>
            </a:r>
          </a:p>
          <a:p>
            <a:pPr lvl="0"/>
            <a:r>
              <a:rPr/>
              <a:t>Conclusión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Tratado de datos</a:t>
            </a:r>
          </a:p>
        </p:txBody>
      </p:sp>
      <p:pic>
        <p:nvPicPr>
          <p:cNvPr descr="pipeline_tratado_dato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590800"/>
            <a:ext cx="8229600" cy="59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Evolución del precio mensual del mercado</a:t>
            </a:r>
          </a:p>
        </p:txBody>
      </p:sp>
      <p:pic>
        <p:nvPicPr>
          <p:cNvPr descr="Presentation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1100" y="1193800"/>
            <a:ext cx="678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Evolución de la demanda mensual del mercado</a:t>
            </a:r>
          </a:p>
        </p:txBody>
      </p:sp>
      <p:pic>
        <p:nvPicPr>
          <p:cNvPr descr="Presentation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1100" y="1193800"/>
            <a:ext cx="678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Precio mensual de los items (boxplot, escala log)</a:t>
            </a:r>
          </a:p>
        </p:txBody>
      </p:sp>
      <p:pic>
        <p:nvPicPr>
          <p:cNvPr descr="Presentation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51000" y="1193800"/>
            <a:ext cx="5842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Demanda mensual de los items (boxplot, escala log)</a:t>
            </a:r>
          </a:p>
        </p:txBody>
      </p:sp>
      <p:pic>
        <p:nvPicPr>
          <p:cNvPr descr="Presentation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51000" y="1193800"/>
            <a:ext cx="5842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QQ-plot de precio medio por arma (log10) — por año</a:t>
            </a:r>
          </a:p>
        </p:txBody>
      </p:sp>
      <p:pic>
        <p:nvPicPr>
          <p:cNvPr descr="Presentation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41500" y="1193800"/>
            <a:ext cx="5473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QQ-plot de demanda media por arma (log1p) — por año</a:t>
            </a:r>
          </a:p>
        </p:txBody>
      </p:sp>
      <p:pic>
        <p:nvPicPr>
          <p:cNvPr descr="Presentation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41500" y="1193800"/>
            <a:ext cx="5473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Precio medio mensual del mercado</a:t>
            </a:r>
          </a:p>
        </p:txBody>
      </p:sp>
      <p:pic>
        <p:nvPicPr>
          <p:cNvPr descr="Presentation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51000" y="1193800"/>
            <a:ext cx="5842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Demanda media mensual del mercado (ajuste logarítmico)</a:t>
            </a:r>
          </a:p>
        </p:txBody>
      </p:sp>
      <p:pic>
        <p:nvPicPr>
          <p:cNvPr descr="Presentation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51000" y="1193800"/>
            <a:ext cx="5842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Varianza mensual del precio del mercado</a:t>
            </a:r>
          </a:p>
        </p:txBody>
      </p:sp>
      <p:pic>
        <p:nvPicPr>
          <p:cNvPr descr="Presentation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51000" y="1193800"/>
            <a:ext cx="5842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Varianza mensual de la demanda del mercado</a:t>
            </a:r>
          </a:p>
        </p:txBody>
      </p:sp>
      <p:pic>
        <p:nvPicPr>
          <p:cNvPr descr="Presentation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51000" y="1193800"/>
            <a:ext cx="5842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Distribución de medias de valor por arma (por año)</a:t>
            </a:r>
          </a:p>
        </p:txBody>
      </p:sp>
      <p:pic>
        <p:nvPicPr>
          <p:cNvPr descr="Presentation_files/figure-pptx/unnamed-chunk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41500" y="1193800"/>
            <a:ext cx="5473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Distribución de medias de demanda por arma (por año)</a:t>
            </a:r>
          </a:p>
        </p:txBody>
      </p:sp>
      <p:pic>
        <p:nvPicPr>
          <p:cNvPr descr="Presentation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41500" y="1193800"/>
            <a:ext cx="5473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Actividad del mercado (volumen de unidades)</a:t>
            </a:r>
          </a:p>
        </p:txBody>
      </p:sp>
      <p:pic>
        <p:nvPicPr>
          <p:cNvPr descr="Presentation_files/figure-pptx/unnamed-chunk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485900" y="1193800"/>
            <a:ext cx="6159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Tamaño económico del mercado (turnover mensual)</a:t>
            </a:r>
          </a:p>
        </p:txBody>
      </p:sp>
      <p:pic>
        <p:nvPicPr>
          <p:cNvPr descr="Presentation_files/figure-pptx/unnamed-chunk-1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485900" y="1193800"/>
            <a:ext cx="6159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Índice de precio del mercado (mediana + banda P10–P90 + VWAP)</a:t>
            </a:r>
          </a:p>
        </p:txBody>
      </p:sp>
      <p:pic>
        <p:nvPicPr>
          <p:cNvPr descr="Presentation_files/figure-pptx/unnamed-chunk-1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51000" y="1193800"/>
            <a:ext cx="5842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Liquidez global (ítems activos)</a:t>
            </a:r>
          </a:p>
        </p:txBody>
      </p:sp>
      <p:pic>
        <p:nvPicPr>
          <p:cNvPr descr="Presentation_files/figure-pptx/unnamed-chunk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485900" y="1193800"/>
            <a:ext cx="6159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Concentración del mercado (Top-10 share por turnover)</a:t>
            </a:r>
          </a:p>
        </p:txBody>
      </p:sp>
      <p:pic>
        <p:nvPicPr>
          <p:cNvPr descr="Presentation_files/figure-pptx/unnamed-chunk-1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485900" y="1193800"/>
            <a:ext cx="6159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Relación precio–demanda (correlación cross-section por mes)</a:t>
            </a:r>
          </a:p>
        </p:txBody>
      </p:sp>
      <p:pic>
        <p:nvPicPr>
          <p:cNvPr descr="Presentation_files/figure-pptx/unnamed-chunk-1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485900" y="1193800"/>
            <a:ext cx="6159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Distribución de iliquidez por ítem</a:t>
            </a:r>
          </a:p>
        </p:txBody>
      </p:sp>
      <p:pic>
        <p:nvPicPr>
          <p:cNvPr descr="Presentation_files/figure-pptx/unnamed-chunk-1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51000" y="1193800"/>
            <a:ext cx="5842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Tabla de probabilidades de items</a:t>
                </a:r>
              </a:p>
              <a:p>
                <a:pPr lvl="0" indent="0" marL="0">
                  <a:buNone/>
                </a:pPr>
                <a:r>
                  <a:rPr/>
                  <a:t>Cada item de cualquier caja pertenece a una de las siguientes categorías: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##       category    prob
## 1     Mil-Spec 0.79923
## 2   Restricted 0.15985
## 3   Classified 0.03197
## 4       Covert 0.00639
## 5 Special Item 0.00256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Probabilidad de StatTrak</a:t>
                </a:r>
              </a:p>
              <a:p>
                <a:pPr lvl="0" indent="0" marL="0">
                  <a:buNone/>
                </a:pPr>
                <a:r>
                  <a:rPr/>
                  <a:t>Usamos la distribución uniforme con el metodo </a:t>
                </a:r>
                <a:r>
                  <a:rPr i="1"/>
                  <a:t>runif</a:t>
                </a:r>
                <a:r>
                  <a:rPr/>
                  <a:t> que genera valores aleatorios entre un mínimo y máximo. Cada arma tiene una probabilidad del 10% de tener StatTrak: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6287E"/>
                    </a:solidFill>
                    <a:latin typeface="Courier"/>
                  </a:rPr>
                  <a:t>runif</a:t>
                </a:r>
                <a:r>
                  <a:rPr>
                    <a:latin typeface="Courier"/>
                  </a:rPr>
                  <a:t>(</a:t>
                </a:r>
                <a:r>
                  <a:rPr>
                    <a:solidFill>
                      <a:srgbClr val="40A070"/>
                    </a:solidFill>
                    <a:latin typeface="Courier"/>
                  </a:rPr>
                  <a:t>1</a:t>
                </a:r>
                <a:r>
                  <a:rPr>
                    <a:latin typeface="Courier"/>
                  </a:rPr>
                  <a:t>) 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&lt;</a:t>
                </a:r>
                <a:r>
                  <a:rPr>
                    <a:latin typeface="Courier"/>
                  </a:rPr>
                  <a:t> </a:t>
                </a:r>
                <a:r>
                  <a:rPr>
                    <a:solidFill>
                      <a:srgbClr val="40A070"/>
                    </a:solidFill>
                    <a:latin typeface="Courier"/>
                  </a:rPr>
                  <a:t>0.10</a:t>
                </a:r>
                <a:r>
                  <a:rPr>
                    <a:latin typeface="Courier"/>
                  </a:rPr>
                  <a:t> </a:t>
                </a:r>
                <a:r>
                  <a:rPr i="1">
                    <a:solidFill>
                      <a:srgbClr val="60A0B0"/>
                    </a:solidFill>
                    <a:latin typeface="Courier"/>
                  </a:rPr>
                  <a:t># Genera un valor aleatorio entre 0 y 1 (primer argumento es el número de valores a generar, NO las cotas)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Probabilidad de desgaste</a:t>
                </a:r>
              </a:p>
              <a:p>
                <a:pPr lvl="0" indent="0" marL="0">
                  <a:buNone/>
                </a:pPr>
                <a:r>
                  <a:rPr/>
                  <a:t>Se decide mediante la formula: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W</m:t>
                      </m:r>
                      <m:r>
                        <m:t>e</m:t>
                      </m:r>
                      <m:r>
                        <m:t>a</m:t>
                      </m:r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M</m:t>
                      </m:r>
                      <m:r>
                        <m:t>i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+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R</m:t>
                          </m:r>
                          <m:r>
                            <m:t>a</m:t>
                          </m:r>
                          <m:r>
                            <m:t>n</m:t>
                          </m:r>
                          <m:r>
                            <m:t>d</m:t>
                          </m:r>
                          <m:r>
                            <m:t>o</m:t>
                          </m:r>
                          <m:r>
                            <m:t>m</m:t>
                          </m:r>
                          <m:r>
                            <m:rPr>
                              <m:sty m:val="p"/>
                            </m:rPr>
                            <m:t>×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M</m:t>
                              </m:r>
                              <m:r>
                                <m:t>a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M</m:t>
                              </m:r>
                              <m:r>
                                <m:t>i</m:t>
                              </m:r>
                              <m:r>
                                <m:t>n</m:t>
                              </m:r>
                            </m:e>
                          </m:d>
                        </m:e>
                      </m:d>
                    </m:oMath>
                  </m:oMathPara>
                </a14:m>
              </a:p>
              <a:p>
                <a:pPr lvl="0"/>
                <a:r>
                  <a:rPr/>
                  <a:t>Min: Mínimo desgaste del arma</a:t>
                </a:r>
              </a:p>
              <a:p>
                <a:pPr lvl="0"/>
                <a:r>
                  <a:rPr/>
                  <a:t>Max: Máximo desgaste del arma</a:t>
                </a:r>
              </a:p>
              <a:p>
                <a:pPr lvl="0"/>
                <a:r>
                  <a:rPr/>
                  <a:t>Random: Número aleatorio entre 0 y 1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Probabilidad de desgaste</a:t>
                </a:r>
              </a:p>
              <a:p>
                <a:pPr lvl="0" indent="0" marL="0">
                  <a:buNone/>
                </a:pPr>
                <a:r>
                  <a:rPr/>
                  <a:t>Clasificación del desgaste en función del desgaste calculado: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##       wear.names lower upper
## 1    Factory New  0.00  0.07
## 2   Minimal Wear  0.07  0.15
## 3   Field-Tested  0.15  0.38
## 4      Well-Worn  0.38  0.45
## 5 Battle-Scarred  0.45  1.00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Rentabilidad del Fracture Case</a:t>
                </a:r>
              </a:p>
            </p:txBody>
          </p:sp>
        </mc:Choice>
      </mc:AlternateContent>
      <p:pic>
        <p:nvPicPr>
          <p:cNvPr descr="Presentation_files/figure-pptx/unnamed-chunk-2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Rentabilidad del Fracture Case</a:t>
            </a:r>
          </a:p>
          <a:p>
            <a:pPr lvl="0" indent="0" marL="0">
              <a:buNone/>
            </a:pPr>
            <a:r>
              <a:rPr/>
              <a:t>Beneficios de algunas simulaciones:</a:t>
            </a:r>
          </a:p>
          <a:p>
            <a:pPr lvl="0" indent="0">
              <a:buNone/>
            </a:pPr>
            <a:r>
              <a:rPr>
                <a:latin typeface="Courier"/>
              </a:rPr>
              <a:t>##   simulación beneficios
## 1          1    -162.15
## 2          2    -162.24
## 3          3    -125.17
## 4          4    -159.97
## 5          5    -156.72
## 6          6    -147.89</a:t>
            </a:r>
          </a:p>
          <a:p>
            <a:pPr lvl="0" indent="0" marL="0">
              <a:buNone/>
            </a:pPr>
            <a:r>
              <a:rPr/>
              <a:t>La mayoría de las simulaciones retornan beneficios negativos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Rentabilidad del Fracture Case</a:t>
            </a:r>
          </a:p>
          <a:p>
            <a:pPr lvl="0" indent="0" marL="0">
              <a:buNone/>
            </a:pPr>
            <a:r>
              <a:rPr/>
              <a:t>Suma de beneficios totales de todas las simulaciones: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sum</a:t>
            </a:r>
            <a:r>
              <a:rPr>
                <a:latin typeface="Courier"/>
              </a:rPr>
              <a:t>(beneficios)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-9283.18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Conclusiones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Alta liquidez global con fuerte concentración de valor</a:t>
            </a:r>
          </a:p>
          <a:p>
            <a:pPr lvl="0"/>
            <a:r>
              <a:rPr/>
              <a:t>Relación negativa precio–liquidez y estructura competitiva</a:t>
            </a:r>
          </a:p>
          <a:p>
            <a:pPr lvl="0"/>
            <a:r>
              <a:rPr/>
              <a:t>Coexistencia de items muy activos y una pequeña masa inactiva</a:t>
            </a:r>
          </a:p>
          <a:p>
            <a:pPr lvl="0"/>
            <a:r>
              <a:rPr/>
              <a:t>Distorsión del mercado por bots y nuevo contenido</a:t>
            </a:r>
          </a:p>
          <a:p>
            <a:pPr lvl="0"/>
            <a:r>
              <a:rPr/>
              <a:t>Dominio de inversores automatizados y apuestas en cajas</a:t>
            </a:r>
          </a:p>
          <a:p>
            <a:pPr lvl="0"/>
            <a:r>
              <a:rPr/>
              <a:t>Riesgos éticos por exposición de menores a dinámicas de apuesta</a:t>
            </a:r>
          </a:p>
          <a:p>
            <a:pPr lvl="0"/>
            <a:r>
              <a:rPr/>
              <a:t>El conflicto principal es entre usuarios, no contra la plataforma</a:t>
            </a:r>
          </a:p>
          <a:p>
            <a:pPr lvl="0"/>
            <a:r>
              <a:rPr/>
              <a:t>Mercado emergente comparable a dinámicas financieras reales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CSGO Market Study</dc:title>
  <dc:creator>Pablo Santana Acosta, Óscar González Pérez, Luis Wandelmer Peña</dc:creator>
  <cp:keywords/>
  <dcterms:created xsi:type="dcterms:W3CDTF">2025-12-22T14:19:56Z</dcterms:created>
  <dcterms:modified xsi:type="dcterms:W3CDTF">2025-12-22T14:19:56Z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2025-12-22</vt:lpwstr>
  </property>
  <property fmtid="{D5CDD505-2E9C-101B-9397-08002B2CF9AE}" pid="3" name="output">
    <vt:lpwstr>powerpoint_presentation</vt:lpwstr>
  </property>
</Properties>
</file>